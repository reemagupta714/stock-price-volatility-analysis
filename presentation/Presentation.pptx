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0" r:id="rId19"/>
    <p:sldId id="281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g30cIwUGxfOVrdu3AM/Oad0Kv1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FD5D67-7C7E-46A3-8A8A-B44A60E60F1B}">
  <a:tblStyle styleId="{D6FD5D67-7C7E-46A3-8A8A-B44A60E60F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489C8163-2F12-A222-AFDA-1DE61ABE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>
            <a:extLst>
              <a:ext uri="{FF2B5EF4-FFF2-40B4-BE49-F238E27FC236}">
                <a16:creationId xmlns:a16="http://schemas.microsoft.com/office/drawing/2014/main" id="{89E41258-58C2-12C5-C59E-1F2EB6AC1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7:notes">
            <a:extLst>
              <a:ext uri="{FF2B5EF4-FFF2-40B4-BE49-F238E27FC236}">
                <a16:creationId xmlns:a16="http://schemas.microsoft.com/office/drawing/2014/main" id="{8F74DC6D-C34E-B229-3A7F-9084B5A89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4424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FBB52B52-81F2-134C-92CE-8FDD1BB8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>
            <a:extLst>
              <a:ext uri="{FF2B5EF4-FFF2-40B4-BE49-F238E27FC236}">
                <a16:creationId xmlns:a16="http://schemas.microsoft.com/office/drawing/2014/main" id="{421A6CD5-3E08-18D4-A0F8-9BD6B21DC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p17:notes">
            <a:extLst>
              <a:ext uri="{FF2B5EF4-FFF2-40B4-BE49-F238E27FC236}">
                <a16:creationId xmlns:a16="http://schemas.microsoft.com/office/drawing/2014/main" id="{BCFE4592-7C1A-2A7D-CCE3-14030FDC4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3391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48a8f8ae2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g3d48a8f8ae2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48a8f8ae2_6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g3d48a8f8ae2_6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457200" y="383458"/>
            <a:ext cx="8229600" cy="4114799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38CD5"/>
            </a:solidFill>
            <a:prstDash val="solid"/>
            <a:round/>
            <a:headEnd type="none" w="sm" len="sm"/>
            <a:tailEnd type="none" w="sm" len="sm"/>
          </a:ln>
          <a:effectLst>
            <a:reflection stA="50000" endA="295" endPos="92000" dist="101600" dir="5400000" sy="-100000" algn="bl" rotWithShape="0"/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6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 Price Return and Volatility Analysis</a:t>
            </a:r>
            <a:endParaRPr sz="6000" b="1" dirty="0">
              <a:solidFill>
                <a:srgbClr val="FFFFFF"/>
              </a:solidFill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body" idx="1"/>
          </p:nvPr>
        </p:nvSpPr>
        <p:spPr>
          <a:xfrm>
            <a:off x="457200" y="4660490"/>
            <a:ext cx="8229600" cy="2197509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 b="1" dirty="0">
              <a:solidFill>
                <a:srgbClr val="FFFFFF"/>
              </a:solidFill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graphicFrame>
        <p:nvGraphicFramePr>
          <p:cNvPr id="90" name="Google Shape;90;p1"/>
          <p:cNvGraphicFramePr/>
          <p:nvPr>
            <p:extLst>
              <p:ext uri="{D42A27DB-BD31-4B8C-83A1-F6EECF244321}">
                <p14:modId xmlns:p14="http://schemas.microsoft.com/office/powerpoint/2010/main" val="2186694732"/>
              </p:ext>
            </p:extLst>
          </p:nvPr>
        </p:nvGraphicFramePr>
        <p:xfrm>
          <a:off x="1445607" y="5522464"/>
          <a:ext cx="6606750" cy="733450"/>
        </p:xfrm>
        <a:graphic>
          <a:graphicData uri="http://schemas.openxmlformats.org/drawingml/2006/table">
            <a:tbl>
              <a:tblPr>
                <a:noFill/>
                <a:tableStyleId>{D6FD5D67-7C7E-46A3-8A8A-B44A60E60F1B}</a:tableStyleId>
              </a:tblPr>
              <a:tblGrid>
                <a:gridCol w="169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800"/>
                        <a:buFont typeface="Calibri"/>
                        <a:buNone/>
                      </a:pPr>
                      <a:r>
                        <a:rPr lang="en-IN" sz="1800" b="0" u="none" strike="noStrike" cap="none" dirty="0">
                          <a:solidFill>
                            <a:schemeClr val="accent1"/>
                          </a:solidFill>
                        </a:rPr>
                        <a:t>          Reema Gupta</a:t>
                      </a:r>
                      <a:endParaRPr sz="1400" b="0" u="none" strike="noStrike" cap="none" dirty="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572000" y="18184"/>
            <a:ext cx="4472247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Problem Statement &amp; Project Overview</a:t>
            </a:r>
            <a:endParaRPr sz="2800" b="1">
              <a:solidFill>
                <a:schemeClr val="lt1"/>
              </a:solidFill>
            </a:endParaRPr>
          </a:p>
        </p:txBody>
      </p:sp>
      <p:pic>
        <p:nvPicPr>
          <p:cNvPr id="102" name="Google Shape;102;p2" descr="Magnifying glass showing decling performance"/>
          <p:cNvPicPr preferRelativeResize="0"/>
          <p:nvPr/>
        </p:nvPicPr>
        <p:blipFill rotWithShape="1">
          <a:blip r:embed="rId3">
            <a:alphaModFix/>
          </a:blip>
          <a:srcRect l="10984" r="44515" b="-1"/>
          <a:stretch/>
        </p:blipFill>
        <p:spPr>
          <a:xfrm>
            <a:off x="20" y="10"/>
            <a:ext cx="4571980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2"/>
          <p:cNvGrpSpPr/>
          <p:nvPr/>
        </p:nvGrpSpPr>
        <p:grpSpPr>
          <a:xfrm>
            <a:off x="0" y="0"/>
            <a:ext cx="92521" cy="6858000"/>
            <a:chOff x="12068638" y="0"/>
            <a:chExt cx="123362" cy="6858000"/>
          </a:xfrm>
        </p:grpSpPr>
        <p:sp>
          <p:nvSpPr>
            <p:cNvPr id="104" name="Google Shape;104;p2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19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>
            <a:spLocks noGrp="1"/>
          </p:cNvSpPr>
          <p:nvPr>
            <p:ph type="body" idx="1"/>
          </p:nvPr>
        </p:nvSpPr>
        <p:spPr>
          <a:xfrm>
            <a:off x="4735523" y="1705084"/>
            <a:ext cx="4308724" cy="485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600"/>
              <a:buNone/>
            </a:pPr>
            <a:r>
              <a:rPr lang="en-IN" sz="1600">
                <a:solidFill>
                  <a:srgbClr val="244061"/>
                </a:solidFill>
              </a:rPr>
              <a:t>A Beginner investor wants to analyze Indian IT stocks using SQL and Python.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Goals: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Identify risk (volatility)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Measure growth (returns)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Recommend best stock – performing stock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Approach: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SQL → Data extraction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Python → Cleaning + Analysis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Visualization → Insights</a:t>
            </a:r>
            <a:endParaRPr/>
          </a:p>
          <a:p>
            <a:pPr marL="342900" lvl="0" indent="-266700" algn="l" rtl="0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title"/>
          </p:nvPr>
        </p:nvSpPr>
        <p:spPr>
          <a:xfrm>
            <a:off x="91497" y="0"/>
            <a:ext cx="7105194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lang="en-IN" sz="3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Pipeline &amp; Preprocessing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body" idx="1"/>
          </p:nvPr>
        </p:nvSpPr>
        <p:spPr>
          <a:xfrm>
            <a:off x="282899" y="1334325"/>
            <a:ext cx="5419632" cy="499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500"/>
              <a:buChar char="•"/>
            </a:pPr>
            <a:r>
              <a:rPr lang="en-IN" sz="1500">
                <a:solidFill>
                  <a:srgbClr val="244061"/>
                </a:solidFill>
              </a:rPr>
              <a:t>Data Source:</a:t>
            </a:r>
            <a:endParaRPr/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SQL → Python (Jupyter)</a:t>
            </a:r>
            <a:endParaRPr sz="1500">
              <a:solidFill>
                <a:srgbClr val="244061"/>
              </a:solidFill>
            </a:endParaRPr>
          </a:p>
          <a:p>
            <a:pPr marL="342900" lvl="0" indent="-254826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•"/>
            </a:pPr>
            <a:r>
              <a:rPr lang="en-IN" sz="1500">
                <a:solidFill>
                  <a:srgbClr val="244061"/>
                </a:solidFill>
              </a:rPr>
              <a:t>Preprocessing Steps: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Data Definition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Merge datasets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Convert Date → datetime</a:t>
            </a:r>
            <a:endParaRPr/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Handle missing values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Handle Datatype mismatch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Remove duplicates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Sorting</a:t>
            </a:r>
            <a:endParaRPr sz="1500">
              <a:solidFill>
                <a:srgbClr val="244061"/>
              </a:solidFill>
            </a:endParaRPr>
          </a:p>
          <a:p>
            <a:pPr marL="742950" lvl="1" indent="-26670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Clr>
                <a:srgbClr val="244061"/>
              </a:buClr>
              <a:buSzPts val="1500"/>
              <a:buChar char="–"/>
            </a:pPr>
            <a:r>
              <a:rPr lang="en-IN" sz="1500">
                <a:solidFill>
                  <a:srgbClr val="244061"/>
                </a:solidFill>
              </a:rPr>
              <a:t>Multi-index (Company, Date)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277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 descr="Data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964" y="2865141"/>
            <a:ext cx="1143455" cy="114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34364" y="47400"/>
            <a:ext cx="7155071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50"/>
              <a:buFont typeface="Calibri"/>
              <a:buNone/>
            </a:pP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Analytical Framework</a:t>
            </a:r>
            <a:endParaRPr/>
          </a:p>
        </p:txBody>
      </p:sp>
      <p:sp>
        <p:nvSpPr>
          <p:cNvPr id="121" name="Google Shape;121;p4"/>
          <p:cNvSpPr txBox="1">
            <a:spLocks noGrp="1"/>
          </p:cNvSpPr>
          <p:nvPr>
            <p:ph type="body" idx="1"/>
          </p:nvPr>
        </p:nvSpPr>
        <p:spPr>
          <a:xfrm>
            <a:off x="690222" y="1384070"/>
            <a:ext cx="5033221" cy="4736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Time-Based Analysis: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Short-term: Monthly / Quarterly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Long-term: 1–5 years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Metrics: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Daily Return → momentum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Volume → liquidity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Close Price 🡪 Adjusted Price</a:t>
            </a:r>
            <a:endParaRPr sz="1600">
              <a:solidFill>
                <a:srgbClr val="244061"/>
              </a:solidFill>
            </a:endParaRPr>
          </a:p>
          <a:p>
            <a:pPr marL="342900" lvl="0" indent="-241300" algn="l" rtl="0">
              <a:lnSpc>
                <a:spcPct val="1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Key Concept: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252 trading days/year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4" descr="Connecti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964" y="2865141"/>
            <a:ext cx="1143455" cy="114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63459" y="47400"/>
            <a:ext cx="7125976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50"/>
              <a:buFont typeface="Calibri"/>
              <a:buNone/>
            </a:pP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and Performance Metrics</a:t>
            </a:r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216131" y="1409007"/>
            <a:ext cx="5864629" cy="460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Metrics: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Annual Return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Volatility (Risk)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Concept: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Volatility = std * √252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Moving Average: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Smooths noise</a:t>
            </a:r>
            <a:endParaRPr/>
          </a:p>
          <a:p>
            <a:pPr marL="742950" lvl="1" indent="-27305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Shows trend</a:t>
            </a:r>
            <a:endParaRPr/>
          </a:p>
          <a:p>
            <a:pPr marL="342900" lvl="0" indent="-2413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•"/>
            </a:pPr>
            <a:r>
              <a:rPr lang="en-IN" sz="1600">
                <a:solidFill>
                  <a:srgbClr val="244061"/>
                </a:solidFill>
              </a:rPr>
              <a:t>Interpretation:</a:t>
            </a:r>
            <a:endParaRPr/>
          </a:p>
          <a:p>
            <a:pPr marL="742950" lvl="1" indent="-27305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244061"/>
              </a:buClr>
              <a:buSzPts val="1600"/>
              <a:buChar char="–"/>
            </a:pPr>
            <a:r>
              <a:rPr lang="en-IN" sz="1600">
                <a:solidFill>
                  <a:srgbClr val="244061"/>
                </a:solidFill>
              </a:rPr>
              <a:t>Higher volatility indicates higher risk</a:t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 descr="Performance metrics icon vector image can be used for action plan | Premium  Vecto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9306" y="2848580"/>
            <a:ext cx="1080257" cy="1080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-80045" y="0"/>
            <a:ext cx="7269480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50"/>
              <a:buFont typeface="Calibri"/>
              <a:buNone/>
            </a:pP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Company-wise</a:t>
            </a:r>
            <a:r>
              <a:rPr lang="en-IN" sz="3850">
                <a:solidFill>
                  <a:srgbClr val="2440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440575" y="1474874"/>
            <a:ext cx="5445000" cy="4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2100"/>
              <a:buNone/>
            </a:pPr>
            <a:r>
              <a:rPr lang="en-IN" sz="1700">
                <a:solidFill>
                  <a:srgbClr val="244061"/>
                </a:solidFill>
              </a:rPr>
              <a:t>Insights:</a:t>
            </a:r>
            <a:endParaRPr sz="1700"/>
          </a:p>
          <a:p>
            <a:pPr marL="342900" lvl="0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Low risk (stable)</a:t>
            </a:r>
            <a:endParaRPr sz="1700"/>
          </a:p>
          <a:p>
            <a:pPr marL="342900" lvl="0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Balanced growth/Moderate</a:t>
            </a:r>
            <a:endParaRPr sz="1700"/>
          </a:p>
          <a:p>
            <a:pPr marL="342900" lvl="0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High risk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800"/>
              <a:buNone/>
            </a:pPr>
            <a:endParaRPr sz="1700"/>
          </a:p>
          <a:p>
            <a:pPr marL="342900" lvl="0" indent="-2095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244061"/>
              </a:buClr>
              <a:buSzPts val="2100"/>
              <a:buNone/>
            </a:pPr>
            <a:r>
              <a:rPr lang="en-IN" sz="1700">
                <a:solidFill>
                  <a:srgbClr val="244061"/>
                </a:solidFill>
              </a:rPr>
              <a:t>Factors: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Price Trend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Returns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Consistency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Time-based behavior</a:t>
            </a: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244061"/>
              </a:buClr>
              <a:buSzPts val="2100"/>
              <a:buNone/>
            </a:pPr>
            <a:endParaRPr sz="1700">
              <a:solidFill>
                <a:srgbClr val="244061"/>
              </a:solidFill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6" descr="Business Analysis Icon PNG Images, Vectors Free Download -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8649" y="2803857"/>
            <a:ext cx="1250286" cy="1250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50990" y="30775"/>
            <a:ext cx="7138445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50"/>
              <a:buFont typeface="Calibri"/>
              <a:buNone/>
            </a:pP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body" idx="1"/>
          </p:nvPr>
        </p:nvSpPr>
        <p:spPr>
          <a:xfrm>
            <a:off x="91440" y="1238596"/>
            <a:ext cx="5972695" cy="551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N" sz="1700">
                <a:solidFill>
                  <a:srgbClr val="244061"/>
                </a:solidFill>
              </a:rPr>
              <a:t>Factors: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Return comparison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Stability comparison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Growth comparison</a:t>
            </a:r>
            <a:endParaRPr sz="1700">
              <a:solidFill>
                <a:srgbClr val="244061"/>
              </a:solidFill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Relative performance</a:t>
            </a: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900"/>
              <a:buNone/>
            </a:pP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900"/>
              <a:buNone/>
            </a:pP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900"/>
              <a:buNone/>
            </a:pPr>
            <a:r>
              <a:rPr lang="en-IN" sz="1700">
                <a:solidFill>
                  <a:srgbClr val="244061"/>
                </a:solidFill>
              </a:rPr>
              <a:t>Observations:</a:t>
            </a:r>
            <a:endParaRPr sz="1700"/>
          </a:p>
          <a:p>
            <a:pPr marL="342900" lvl="0" indent="-33020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Sector recovery trend</a:t>
            </a:r>
            <a:endParaRPr sz="1700"/>
          </a:p>
          <a:p>
            <a:pPr marL="342900" lvl="0" indent="-33020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Short-term correlation high</a:t>
            </a:r>
            <a:endParaRPr sz="1700"/>
          </a:p>
          <a:p>
            <a:pPr marL="342900" lvl="0" indent="-33020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Long-term variation</a:t>
            </a:r>
            <a:endParaRPr sz="1700"/>
          </a:p>
          <a:p>
            <a:pPr marL="342900" lvl="0" indent="-222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244061"/>
              </a:buClr>
              <a:buSzPts val="1900"/>
              <a:buNone/>
            </a:pPr>
            <a:r>
              <a:rPr lang="en-IN" sz="1700">
                <a:solidFill>
                  <a:srgbClr val="244061"/>
                </a:solidFill>
              </a:rPr>
              <a:t>Concept:</a:t>
            </a:r>
            <a:endParaRPr sz="1700"/>
          </a:p>
          <a:p>
            <a:pPr marL="342900" lvl="0" indent="-33020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244061"/>
              </a:buClr>
              <a:buSzPts val="1700"/>
              <a:buChar char="•"/>
            </a:pPr>
            <a:r>
              <a:rPr lang="en-IN" sz="1700">
                <a:solidFill>
                  <a:srgbClr val="244061"/>
                </a:solidFill>
              </a:rPr>
              <a:t>Risk vs Return trade-off</a:t>
            </a:r>
            <a:endParaRPr sz="1700"/>
          </a:p>
          <a:p>
            <a:pPr marL="342900" lvl="0" indent="-222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7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244061"/>
              </a:buClr>
              <a:buSzPts val="1900"/>
              <a:buNone/>
            </a:pPr>
            <a:endParaRPr sz="1700"/>
          </a:p>
        </p:txBody>
      </p:sp>
      <p:sp>
        <p:nvSpPr>
          <p:cNvPr id="149" name="Google Shape;149;p7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7" descr="Bar Graph with Downward Tre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964" y="2865141"/>
            <a:ext cx="1143455" cy="114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0" y="49205"/>
            <a:ext cx="7189435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n-IN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body" idx="1"/>
          </p:nvPr>
        </p:nvSpPr>
        <p:spPr>
          <a:xfrm>
            <a:off x="852321" y="1267691"/>
            <a:ext cx="5033221" cy="4748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1800"/>
              <a:buNone/>
            </a:pPr>
            <a:r>
              <a:rPr lang="en-IN" sz="1800">
                <a:solidFill>
                  <a:srgbClr val="244061"/>
                </a:solidFill>
              </a:rPr>
              <a:t>Return and Volatility Analysis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Daily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Weekly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Monthly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Annualy</a:t>
            </a:r>
            <a:endParaRPr sz="1800">
              <a:solidFill>
                <a:srgbClr val="24406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Cummulative</a:t>
            </a:r>
            <a:endParaRPr sz="1800">
              <a:solidFill>
                <a:srgbClr val="244061"/>
              </a:solidFill>
            </a:endParaRPr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None/>
            </a:pPr>
            <a:r>
              <a:rPr lang="en-IN" sz="1800">
                <a:solidFill>
                  <a:srgbClr val="244061"/>
                </a:solidFill>
              </a:rPr>
              <a:t>Charts/Plots used: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Line Chart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Bar Chart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Candle Light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Histogram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244061"/>
              </a:buClr>
              <a:buSzPts val="1800"/>
              <a:buChar char="•"/>
            </a:pPr>
            <a:r>
              <a:rPr lang="en-IN" sz="1800">
                <a:solidFill>
                  <a:srgbClr val="244061"/>
                </a:solidFill>
              </a:rPr>
              <a:t>Scattered Plot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24406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342900" lvl="0" indent="-2286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sp>
        <p:nvSpPr>
          <p:cNvPr id="158" name="Google Shape;158;p8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8" descr="Bar 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964" y="2865141"/>
            <a:ext cx="1143455" cy="114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Analysis</a:t>
            </a:r>
            <a:endParaRPr/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5949" y="1321663"/>
            <a:ext cx="5510653" cy="4215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Analysis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4040" y="1392611"/>
            <a:ext cx="5515745" cy="4172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Analysis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2447" y="1577128"/>
            <a:ext cx="5572903" cy="4277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/>
          <p:nvPr/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Analysis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80739" y="1597121"/>
            <a:ext cx="5515745" cy="4420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Analysis</a:t>
            </a:r>
            <a:endParaRPr/>
          </a:p>
        </p:txBody>
      </p:sp>
      <p:sp>
        <p:nvSpPr>
          <p:cNvPr id="199" name="Google Shape;199;p13"/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8828" y="1482655"/>
            <a:ext cx="5468113" cy="4458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628650" y="171162"/>
            <a:ext cx="2168583" cy="156368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I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Analysis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858692" y="2405894"/>
            <a:ext cx="3986392" cy="3535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9027" y="2178040"/>
            <a:ext cx="7192236" cy="4206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"/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DB20D-FB49-A166-0293-1989C46FA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5" y="1871445"/>
            <a:ext cx="8592749" cy="31151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3D501C-9F64-0530-A0C2-BBAAD4444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57" y="1900024"/>
            <a:ext cx="8497486" cy="30579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073FA-09CB-1164-B306-429DB57E6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36" y="1709928"/>
            <a:ext cx="7456756" cy="52553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CD17A1E4-14F1-4B3A-0A40-2CE67478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>
            <a:extLst>
              <a:ext uri="{FF2B5EF4-FFF2-40B4-BE49-F238E27FC236}">
                <a16:creationId xmlns:a16="http://schemas.microsoft.com/office/drawing/2014/main" id="{CFB55447-983E-9128-B19D-918674004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>
            <a:extLst>
              <a:ext uri="{FF2B5EF4-FFF2-40B4-BE49-F238E27FC236}">
                <a16:creationId xmlns:a16="http://schemas.microsoft.com/office/drawing/2014/main" id="{EC9C4473-C3E4-D00A-9674-DC522CE51B77}"/>
              </a:ext>
            </a:extLst>
          </p:cNvPr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055AC2-E836-F17D-3611-48628D129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69" y="1616203"/>
            <a:ext cx="7339715" cy="511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0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76D1E6D2-BF42-A8D5-CFC9-7E8AADCCC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>
            <a:extLst>
              <a:ext uri="{FF2B5EF4-FFF2-40B4-BE49-F238E27FC236}">
                <a16:creationId xmlns:a16="http://schemas.microsoft.com/office/drawing/2014/main" id="{FD0298D5-C1CE-F87D-9820-7DF82A61C1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>
            <a:extLst>
              <a:ext uri="{FF2B5EF4-FFF2-40B4-BE49-F238E27FC236}">
                <a16:creationId xmlns:a16="http://schemas.microsoft.com/office/drawing/2014/main" id="{5F055ED7-F9EF-19E9-D7BB-9DBEF78B755B}"/>
              </a:ext>
            </a:extLst>
          </p:cNvPr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7">
            <a:extLst>
              <a:ext uri="{FF2B5EF4-FFF2-40B4-BE49-F238E27FC236}">
                <a16:creationId xmlns:a16="http://schemas.microsoft.com/office/drawing/2014/main" id="{554C2A0B-8926-534B-97B7-53351DDDC1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152" y="1920240"/>
            <a:ext cx="7639112" cy="47371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620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5C678-2E76-528D-0673-22A98E02B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835674"/>
            <a:ext cx="6713154" cy="48368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53" cy="1616203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Analysis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482952" y="2126151"/>
            <a:ext cx="4089048" cy="365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1079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A1BBD-3853-0DC2-53CB-3120ABB73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1806942"/>
            <a:ext cx="4645152" cy="48998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48a8f8ae2_6_0"/>
          <p:cNvSpPr txBox="1">
            <a:spLocks noGrp="1"/>
          </p:cNvSpPr>
          <p:nvPr>
            <p:ph type="title"/>
          </p:nvPr>
        </p:nvSpPr>
        <p:spPr>
          <a:xfrm>
            <a:off x="-3768" y="0"/>
            <a:ext cx="9072900" cy="16161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IN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Volatility And Risk </a:t>
            </a:r>
            <a:r>
              <a:rPr lang="en-IN" sz="2800">
                <a:solidFill>
                  <a:schemeClr val="lt1"/>
                </a:solidFill>
              </a:rPr>
              <a:t>Comparison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3d48a8f8ae2_6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768500"/>
            <a:ext cx="874395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189435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IN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to Insights - Pipeline</a:t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0" descr="Software architecture Generic color fill icon | Freepi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2353" y="2474422"/>
            <a:ext cx="1794164" cy="179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026195" y="1071702"/>
            <a:ext cx="3857531" cy="578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>
            <a:spLocks noGrp="1"/>
          </p:cNvSpPr>
          <p:nvPr>
            <p:ph type="title"/>
          </p:nvPr>
        </p:nvSpPr>
        <p:spPr>
          <a:xfrm>
            <a:off x="7257" y="26618"/>
            <a:ext cx="7189434" cy="994172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50"/>
              <a:buFont typeface="Calibri"/>
              <a:buNone/>
            </a:pP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body" idx="1"/>
          </p:nvPr>
        </p:nvSpPr>
        <p:spPr>
          <a:xfrm>
            <a:off x="62345" y="1126375"/>
            <a:ext cx="5972695" cy="552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Data-driven stock analysis improves decision-making Python + SQL enable efficient data processing and insights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TCS: Stable &amp; low risk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Infosys: Balanced growth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Wipro: Higher risk, higher fluctuation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HCL: Highest risk-adjusted return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IN" sz="2100"/>
              <a:t>Our Visualizations simplify complex financial insights.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1" descr="Laptop Sec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964" y="2865141"/>
            <a:ext cx="1143455" cy="114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48a8f8ae2_6_7"/>
          <p:cNvSpPr txBox="1">
            <a:spLocks noGrp="1"/>
          </p:cNvSpPr>
          <p:nvPr>
            <p:ph type="title"/>
          </p:nvPr>
        </p:nvSpPr>
        <p:spPr>
          <a:xfrm>
            <a:off x="7257" y="26618"/>
            <a:ext cx="7189500" cy="9942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50"/>
              <a:buFont typeface="Calibri"/>
              <a:buNone/>
            </a:pPr>
            <a:r>
              <a:rPr lang="en-IN" sz="38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276" name="Google Shape;276;g3d48a8f8ae2_6_7"/>
          <p:cNvSpPr/>
          <p:nvPr/>
        </p:nvSpPr>
        <p:spPr>
          <a:xfrm>
            <a:off x="7189435" y="0"/>
            <a:ext cx="1954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d48a8f8ae2_6_7"/>
          <p:cNvSpPr/>
          <p:nvPr/>
        </p:nvSpPr>
        <p:spPr>
          <a:xfrm>
            <a:off x="6129567" y="2369132"/>
            <a:ext cx="2119800" cy="2119800"/>
          </a:xfrm>
          <a:prstGeom prst="ellipse">
            <a:avLst/>
          </a:prstGeom>
          <a:solidFill>
            <a:srgbClr val="FFFFFF"/>
          </a:solidFill>
          <a:ln w="222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3d48a8f8ae2_6_7" descr="Laptop Sec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964" y="2865141"/>
            <a:ext cx="1143455" cy="1143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d48a8f8ae2_6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1250" y="1233301"/>
            <a:ext cx="6636226" cy="50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"/>
          <p:cNvSpPr txBox="1"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I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Credits</a:t>
            </a:r>
            <a:endParaRPr/>
          </a:p>
        </p:txBody>
      </p:sp>
      <p:grpSp>
        <p:nvGrpSpPr>
          <p:cNvPr id="285" name="Google Shape;285;p22"/>
          <p:cNvGrpSpPr/>
          <p:nvPr/>
        </p:nvGrpSpPr>
        <p:grpSpPr>
          <a:xfrm>
            <a:off x="1671462" y="1598490"/>
            <a:ext cx="5801074" cy="4529384"/>
            <a:chOff x="1214262" y="-1710"/>
            <a:chExt cx="5801074" cy="4529384"/>
          </a:xfrm>
        </p:grpSpPr>
        <p:sp>
          <p:nvSpPr>
            <p:cNvPr id="286" name="Google Shape;286;p22"/>
            <p:cNvSpPr/>
            <p:nvPr/>
          </p:nvSpPr>
          <p:spPr>
            <a:xfrm>
              <a:off x="4813276" y="1161951"/>
              <a:ext cx="2202060" cy="220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4813276" y="1161951"/>
              <a:ext cx="2202060" cy="220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975" tIns="46975" rIns="46975" bIns="469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700"/>
                <a:buFont typeface="Calibri"/>
                <a:buNone/>
              </a:pPr>
              <a:r>
                <a:rPr lang="en-IN" sz="3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Mr. Vinay</a:t>
              </a:r>
              <a:endParaRPr sz="3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1850107" y="-1710"/>
              <a:ext cx="4529384" cy="452938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1460" y="92071"/>
                  </a:moveTo>
                  <a:cubicBezTo>
                    <a:pt x="92527" y="103618"/>
                    <a:pt x="79183" y="110917"/>
                    <a:pt x="64641" y="112210"/>
                  </a:cubicBezTo>
                  <a:cubicBezTo>
                    <a:pt x="50099" y="113503"/>
                    <a:pt x="35677" y="108672"/>
                    <a:pt x="24848" y="98881"/>
                  </a:cubicBezTo>
                  <a:lnTo>
                    <a:pt x="18929" y="103459"/>
                  </a:lnTo>
                  <a:lnTo>
                    <a:pt x="23039" y="88591"/>
                  </a:lnTo>
                  <a:lnTo>
                    <a:pt x="39925" y="87218"/>
                  </a:lnTo>
                  <a:lnTo>
                    <a:pt x="34030" y="91778"/>
                  </a:lnTo>
                  <a:cubicBezTo>
                    <a:pt x="42606" y="98786"/>
                    <a:pt x="53649" y="102031"/>
                    <a:pt x="64653" y="100775"/>
                  </a:cubicBezTo>
                  <a:cubicBezTo>
                    <a:pt x="75656" y="99520"/>
                    <a:pt x="85685" y="93870"/>
                    <a:pt x="92462" y="85110"/>
                  </a:cubicBezTo>
                  <a:close/>
                </a:path>
              </a:pathLst>
            </a:cu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1214262" y="1161951"/>
              <a:ext cx="2202060" cy="220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1214262" y="1161951"/>
              <a:ext cx="2202060" cy="220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975" tIns="46975" rIns="46975" bIns="469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700"/>
                <a:buFont typeface="Calibri"/>
                <a:buNone/>
              </a:pPr>
              <a:r>
                <a:rPr lang="en-IN" sz="3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Mr. Manvindar Singh</a:t>
              </a:r>
              <a:endParaRPr sz="3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1850107" y="-1710"/>
              <a:ext cx="4529384" cy="4529384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540" y="27929"/>
                  </a:moveTo>
                  <a:cubicBezTo>
                    <a:pt x="27473" y="16382"/>
                    <a:pt x="40817" y="9083"/>
                    <a:pt x="55359" y="7790"/>
                  </a:cubicBezTo>
                  <a:cubicBezTo>
                    <a:pt x="69901" y="6497"/>
                    <a:pt x="84323" y="11328"/>
                    <a:pt x="95152" y="21119"/>
                  </a:cubicBezTo>
                  <a:lnTo>
                    <a:pt x="101071" y="16541"/>
                  </a:lnTo>
                  <a:lnTo>
                    <a:pt x="96961" y="31409"/>
                  </a:lnTo>
                  <a:lnTo>
                    <a:pt x="80075" y="32782"/>
                  </a:lnTo>
                  <a:lnTo>
                    <a:pt x="85970" y="28222"/>
                  </a:lnTo>
                  <a:cubicBezTo>
                    <a:pt x="77394" y="21214"/>
                    <a:pt x="66351" y="17969"/>
                    <a:pt x="55347" y="19225"/>
                  </a:cubicBezTo>
                  <a:cubicBezTo>
                    <a:pt x="44344" y="20480"/>
                    <a:pt x="34315" y="26130"/>
                    <a:pt x="27538" y="34890"/>
                  </a:cubicBezTo>
                  <a:close/>
                </a:path>
              </a:pathLst>
            </a:custGeom>
            <a:solidFill>
              <a:schemeClr val="accen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346</Words>
  <Application>Microsoft Office PowerPoint</Application>
  <PresentationFormat>On-screen Show (4:3)</PresentationFormat>
  <Paragraphs>123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Stock Price Return and Volatility Analysis</vt:lpstr>
      <vt:lpstr>Problem Statement &amp; Project Overview</vt:lpstr>
      <vt:lpstr>Data Pipeline &amp; Preprocessing</vt:lpstr>
      <vt:lpstr>Analytical Framework</vt:lpstr>
      <vt:lpstr>Risk and Performance Metrics</vt:lpstr>
      <vt:lpstr>Company-wise Analysis</vt:lpstr>
      <vt:lpstr>Comparative Analysis</vt:lpstr>
      <vt:lpstr>Visualization</vt:lpstr>
      <vt:lpstr>Return Analysis</vt:lpstr>
      <vt:lpstr>Return Analysis</vt:lpstr>
      <vt:lpstr>Return Analysis</vt:lpstr>
      <vt:lpstr>Return Analysis</vt:lpstr>
      <vt:lpstr>Return Analysis</vt:lpstr>
      <vt:lpstr>Return Analysis</vt:lpstr>
      <vt:lpstr>Volatility And Risk Analysis</vt:lpstr>
      <vt:lpstr>Volatility And Risk Analysis</vt:lpstr>
      <vt:lpstr>Volatility And Risk Analysis</vt:lpstr>
      <vt:lpstr>Volatility And Risk Analysis</vt:lpstr>
      <vt:lpstr>Volatility And Risk Analysis</vt:lpstr>
      <vt:lpstr>Volatility And Risk Analysis</vt:lpstr>
      <vt:lpstr>Volatility And Risk Analysis</vt:lpstr>
      <vt:lpstr>Volatility And Risk Comparison</vt:lpstr>
      <vt:lpstr>Data to Insights - Pipeline</vt:lpstr>
      <vt:lpstr>Conclusion</vt:lpstr>
      <vt:lpstr>Conclusion</vt:lpstr>
      <vt:lpstr>Credits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Reema Gupta</dc:creator>
  <cp:lastModifiedBy>Reema Gupta</cp:lastModifiedBy>
  <cp:revision>3</cp:revision>
  <dcterms:created xsi:type="dcterms:W3CDTF">2013-01-27T09:14:16Z</dcterms:created>
  <dcterms:modified xsi:type="dcterms:W3CDTF">2026-05-28T12:00:35Z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2026-04-04T05:11:25Z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4d99c0ca-8b63-4564-922d-ceb4781d0b5e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